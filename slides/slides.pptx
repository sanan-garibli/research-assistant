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5394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AI ACADEMY, NATIONAL AI CENTER</a:t>
            </a:r>
          </a:p>
          <a:p>
            <a:pPr algn="ctr">
              <a:spcAft>
                <a:spcPts val="18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AI-ENG-110  --  SOFTWARE ENGINEERING  --  SPRING 2026</a:t>
            </a:r>
          </a:p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0B3D91"/>
                </a:solidFill>
                <a:latin typeface="Calibri"/>
              </a:rP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0B3D91"/>
                </a:solidFill>
                <a:latin typeface="Calibri"/>
              </a:rPr>
              <a:t>Topic 4 -- Async Research Assistant</a:t>
            </a:r>
          </a:p>
          <a:p>
            <a:pPr algn="ctr">
              <a:spcAft>
                <a:spcPts val="2000"/>
              </a:spcAft>
            </a:pPr>
            <a:r>
              <a:rPr sz="1000" b="0" i="0">
                <a:solidFill>
                  <a:srgbClr val="0B3D91"/>
                </a:solidFill>
                <a:latin typeface="Calibri"/>
              </a:rPr>
              <a:t>────────────────────────────────────────────────────────────</a:t>
            </a:r>
          </a:p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8B0000"/>
                </a:solidFill>
                <a:latin typeface="Calibri"/>
              </a:rPr>
              <a:t>[TODO: Team Name]</a:t>
            </a:r>
          </a:p>
          <a:p>
            <a:pPr algn="ctr">
              <a:spcAft>
                <a:spcPts val="3000"/>
              </a:spcAft>
            </a:pPr>
            <a:r>
              <a:rPr sz="1600" b="0" i="0">
                <a:solidFill>
                  <a:srgbClr val="111111"/>
                </a:solidFill>
                <a:latin typeface="Calibri"/>
              </a:rPr>
              <a:t>Sanan Garibli</a:t>
            </a:r>
            <a:r>
              <a:rPr sz="1600" b="0" i="0">
                <a:solidFill>
                  <a:srgbClr val="0B3D91"/>
                </a:solidFill>
                <a:latin typeface="Calibri"/>
              </a:rPr>
              <a:t>   •   </a:t>
            </a:r>
            <a:r>
              <a:rPr sz="1600" b="1" i="0">
                <a:solidFill>
                  <a:srgbClr val="8B0000"/>
                </a:solidFill>
                <a:latin typeface="Calibri"/>
              </a:rPr>
              <a:t>[TODO: Member B]</a:t>
            </a:r>
            <a:r>
              <a:rPr sz="1600" b="0" i="0">
                <a:solidFill>
                  <a:srgbClr val="0B3D91"/>
                </a:solidFill>
                <a:latin typeface="Calibri"/>
              </a:rPr>
              <a:t>   •   </a:t>
            </a:r>
            <a:r>
              <a:rPr sz="1600" b="1" i="0">
                <a:solidFill>
                  <a:srgbClr val="8B0000"/>
                </a:solidFill>
                <a:latin typeface="Calibri"/>
              </a:rPr>
              <a:t>[TODO: Member C]</a:t>
            </a:r>
          </a:p>
          <a:p>
            <a:pPr algn="ctr"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Final Project Defense -- 11 September 2026</a:t>
            </a:r>
          </a:p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55555"/>
                </a:solidFill>
                <a:latin typeface="Consolas"/>
              </a:rPr>
              <a:t>github.com/sanan-garibli/research-assistant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The problem in one sentence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2/11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the system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18488"/>
            <a:ext cx="11274552" cy="103327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111111"/>
                </a:solidFill>
                <a:latin typeface="Calibri"/>
              </a:rPr>
              <a:t>A user asks a research question from the command line; we query Wikipedia, arXiv and a web-search API </a:t>
            </a:r>
            <a:r>
              <a:rPr sz="1500" b="1" i="0">
                <a:solidFill>
                  <a:srgbClr val="111111"/>
                </a:solidFill>
                <a:latin typeface="Calibri"/>
              </a:rPr>
              <a:t>concurrently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, bounded by a per-source timeout, and return one LLM-synthesised paragraph whose every claim carries a numbered citation -- even when one of the three sources is down.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Inputs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Question string (trimmed, non-empty, &lt;= 500 chars)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Optional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--sources wiki,arxiv,web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 subset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--no-cache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 to bypass the source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8892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Outputs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ResearchSession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: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AnswerWithCitations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 + one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SourceOutcome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 per source (count, seconds, cache hit, error)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Rendered answer, numbered references with URL, per-source timing line</a:t>
            </a:r>
          </a:p>
          <a:p>
            <a:pPr>
              <a:spcAft>
                <a:spcPts val="500"/>
              </a:spcAft>
            </a:pPr>
            <a:r>
              <a:rPr sz="15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500" b="0" i="0">
                <a:solidFill>
                  <a:srgbClr val="111111"/>
                </a:solidFill>
                <a:latin typeface="Calibri"/>
              </a:rPr>
              <a:t>Exit 0 (possibly degraded, with a note) or exit 1 with </a:t>
            </a:r>
            <a:r>
              <a:rPr sz="1400" b="0" i="0">
                <a:solidFill>
                  <a:srgbClr val="111111"/>
                </a:solidFill>
                <a:latin typeface="Consolas"/>
              </a:rPr>
              <a:t>Error: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57800"/>
            <a:ext cx="11274552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Entry points: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python -m researcher ask "..."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and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python -m researcher demo [--limit N]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(no HTTP server; the Docker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CMD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runs the demo).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Stack: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Anthropic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claude-sonnet-5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for synthesis, Tavily for web search, keyless Wikipedia + arXiv. Provided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ai/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package unmodified.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3/11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Module map.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One file imports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ai.*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; one file touches the disk; zero files change to swap Anthropic for OpenAI.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E3F1E6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cli.py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alibri"/>
              </a:rPr>
              <a:t>ask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916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E3F1E6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scripts/bench.py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alibri"/>
              </a:rPr>
              <a:t>seq vs gather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91640"/>
            <a:ext cx="2468880" cy="5943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905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onsolas"/>
              </a:rPr>
              <a:t>bootstrap.py + config.py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composition root, typed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8229600" cy="2788920"/>
          </a:xfrm>
          <a:prstGeom prst="roundRect">
            <a:avLst>
              <a:gd name="adj" fmla="val 3000"/>
            </a:avLst>
          </a:prstGeom>
          <a:noFill/>
          <a:ln w="15875">
            <a:solidFill>
              <a:srgbClr val="9FB3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42032"/>
            <a:ext cx="2514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1">
                <a:solidFill>
                  <a:srgbClr val="555555"/>
                </a:solidFill>
                <a:latin typeface="Calibri"/>
              </a:rPr>
              <a:t>researcher/  -- our SE layer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78892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DCE5F6"/>
          </a:solidFill>
          <a:ln w="1905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Consolas"/>
              </a:rPr>
              <a:t>core/researcher.py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Researcher facade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validate . gather . synthesize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78892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DCE5F6"/>
          </a:solidFill>
          <a:ln w="1905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Consolas"/>
              </a:rPr>
              <a:t>concurrency/orchestrator.py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gather . timeout . Semaphore(5)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one shared AsyncClient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8892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905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onsolas"/>
              </a:rPr>
              <a:t>services/cache.py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TTL SourceCache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sha256(source:canonical query)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4160520"/>
            <a:ext cx="2651760" cy="822960"/>
          </a:xfrm>
          <a:prstGeom prst="roundRect">
            <a:avLst>
              <a:gd name="adj" fmla="val 8000"/>
            </a:avLst>
          </a:prstGeom>
          <a:solidFill>
            <a:srgbClr val="EEF2FA"/>
          </a:solidFill>
          <a:ln w="19050"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onsolas"/>
              </a:rPr>
              <a:t>services/ai_service.py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tenacity retries . timing logs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only module importing ai.*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60520"/>
            <a:ext cx="2286000" cy="822960"/>
          </a:xfrm>
          <a:prstGeom prst="roundRect">
            <a:avLst>
              <a:gd name="adj" fmla="val 8000"/>
            </a:avLst>
          </a:prstGeom>
          <a:solidFill>
            <a:srgbClr val="FFF1DC"/>
          </a:solidFill>
          <a:ln w="19050">
            <a:solidFill>
              <a:srgbClr val="C98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onsolas"/>
              </a:rPr>
              <a:t>storage/cache_store.py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CacheBackend ABC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FilesystemJSON / InMemory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5532120"/>
            <a:ext cx="3200400" cy="731520"/>
          </a:xfrm>
          <a:prstGeom prst="roundRect">
            <a:avLst>
              <a:gd name="adj" fmla="val 8000"/>
            </a:avLst>
          </a:prstGeom>
          <a:solidFill>
            <a:srgbClr val="F1EAF8"/>
          </a:solidFill>
          <a:ln w="19050">
            <a:solidFill>
              <a:srgbClr val="875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Calibri"/>
              </a:rPr>
              <a:t>provided ai/  (unmodified)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fetch_wikipedia . fetch_arxiv . fetch_web . synthesize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5532120"/>
            <a:ext cx="2011680" cy="73152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19050">
            <a:solidFill>
              <a:srgbClr val="5555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Wikipedia . arXiv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111111"/>
                </a:solidFill>
                <a:latin typeface="Calibri"/>
              </a:rPr>
              <a:t>Tavily . Anthropic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65960" y="2286000"/>
            <a:ext cx="0" cy="50292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697480" y="2286000"/>
            <a:ext cx="1097280" cy="502920"/>
          </a:xfrm>
          <a:prstGeom prst="bentConnector3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108960" y="3200400"/>
            <a:ext cx="274320" cy="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3200400"/>
            <a:ext cx="274320" cy="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52360" y="3611880"/>
            <a:ext cx="0" cy="54864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09160" y="3611880"/>
            <a:ext cx="0" cy="54864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65960" y="3611880"/>
            <a:ext cx="1417320" cy="960120"/>
          </a:xfrm>
          <a:prstGeom prst="bentConnector3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09160" y="4983480"/>
            <a:ext cx="0" cy="548640"/>
          </a:xfrm>
          <a:prstGeom prst="line">
            <a:avLst/>
          </a:prstGeom>
          <a:ln w="19050">
            <a:solidFill>
              <a:srgbClr val="0B3D9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309360" y="589788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43400" y="5029200"/>
            <a:ext cx="20116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AI-module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8056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synthesize via to_thread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51760"/>
            <a:ext cx="274320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Reading the diagram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11111"/>
                </a:solidFill>
                <a:latin typeface="Calibri"/>
              </a:rPr>
              <a:t>1 arrow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crosses the AI boundary: </a:t>
            </a:r>
            <a:r>
              <a:rPr sz="1100" b="0" i="0">
                <a:solidFill>
                  <a:srgbClr val="111111"/>
                </a:solidFill>
                <a:latin typeface="Consolas"/>
              </a:rPr>
              <a:t>ai_service.py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-&gt; </a:t>
            </a:r>
            <a:r>
              <a:rPr sz="1100" b="0" i="0">
                <a:solidFill>
                  <a:srgbClr val="111111"/>
                </a:solidFill>
                <a:latin typeface="Consolas"/>
              </a:rPr>
              <a:t>ai/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200" b="1" i="0">
                <a:solidFill>
                  <a:srgbClr val="111111"/>
                </a:solidFill>
                <a:latin typeface="Calibri"/>
              </a:rPr>
              <a:t>1 arrow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crosses the storage boundary: </a:t>
            </a:r>
            <a:r>
              <a:rPr sz="1100" b="0" i="0">
                <a:solidFill>
                  <a:srgbClr val="111111"/>
                </a:solidFill>
                <a:latin typeface="Consolas"/>
              </a:rPr>
              <a:t>cache.py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-&gt; </a:t>
            </a:r>
            <a:r>
              <a:rPr sz="1100" b="0" i="0">
                <a:solidFill>
                  <a:srgbClr val="111111"/>
                </a:solidFill>
                <a:latin typeface="Consolas"/>
              </a:rPr>
              <a:t>cache_store.py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Cache is checked </a:t>
            </a:r>
            <a:r>
              <a:rPr sz="1200" b="1" i="0">
                <a:solidFill>
                  <a:srgbClr val="111111"/>
                </a:solidFill>
                <a:latin typeface="Calibri"/>
              </a:rPr>
              <a:t>before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the semaphore, so hits cost no budget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Composition, not inheritance: </a:t>
            </a:r>
            <a:r>
              <a:rPr sz="1100" b="0" i="0">
                <a:solidFill>
                  <a:srgbClr val="111111"/>
                </a:solidFill>
                <a:latin typeface="Consolas"/>
              </a:rPr>
              <a:t>Researcher</a:t>
            </a:r>
            <a:r>
              <a:rPr sz="1200" b="0" i="0">
                <a:solidFill>
                  <a:srgbClr val="111111"/>
                </a:solidFill>
                <a:latin typeface="Calibri"/>
              </a:rPr>
              <a:t> has an orchestrator; the orchestrator has the client and semaphore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Three design decisions we can defend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4/11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3931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200"/>
              </a:spcAft>
            </a:pPr>
            <a:r>
              <a:rPr sz="1700" b="1" i="0">
                <a:solidFill>
                  <a:srgbClr val="0B3D91"/>
                </a:solidFill>
                <a:latin typeface="Calibri"/>
              </a:rPr>
              <a:t>1.  asyncio over threads or processes.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The provided fetchers are coroutines sharing one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httpx.AsyncClient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; a thread pool would need a loop per thread and lose the shared pool, a process pool cannot pickle the client and there is no CPU work. The one sync call,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synthesize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, goes through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asyncio.to_thread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.</a:t>
            </a:r>
          </a:p>
          <a:p>
            <a:pPr>
              <a:spcAft>
                <a:spcPts val="200"/>
              </a:spcAft>
            </a:pPr>
            <a:r>
              <a:rPr sz="1700" b="1" i="0">
                <a:solidFill>
                  <a:srgbClr val="0B3D91"/>
                </a:solidFill>
                <a:latin typeface="Calibri"/>
              </a:rPr>
              <a:t>2.  One long-lived AsyncClient over a cached SSL context, not one per call.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Building a client costs ~0.35 s (trust store). We build it once at composition time, pool connections across questions, and release it with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async with researcher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. Trade-off accepted: every caller must honour the lifecycle -- the tests that did not had to be fixed.</a:t>
            </a:r>
          </a:p>
          <a:p>
            <a:pPr>
              <a:spcAft>
                <a:spcPts val="200"/>
              </a:spcAft>
            </a:pPr>
            <a:r>
              <a:rPr sz="1700" b="1" i="0">
                <a:solidFill>
                  <a:srgbClr val="0B3D91"/>
                </a:solidFill>
                <a:latin typeface="Calibri"/>
              </a:rPr>
              <a:t>3.  Filesystem JSON cache behind a CacheBackend ABC, not SQLite/Postgres.</a:t>
            </a:r>
          </a:p>
          <a:p>
            <a:pPr>
              <a:spcAft>
                <a:spcPts val="12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Payload is small and human-readable; the ABC (same pattern as the provided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WebSearchProvider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) lets tests swap in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InMemoryCacheBackend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. Multi-process writers or queries over the cache would push us to Postgres.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21208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Expect to be asked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96128"/>
            <a:ext cx="11274552" cy="71323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"Why not a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Protocol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instead of an ABC?" -- we want a backend that forgets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delete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to fail at construction time, not only under mypy. "Why not SQLite?" -- nothing is ever queried by anything but its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Concurrency: the benchmark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5/11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4552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Workload: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the 5 sample questions,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for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loop vs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asyncio.gather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,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use_cache=False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in both phases, fresh client per phase. 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Command: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python scripts/bench.py --limit 5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 (Windows 11, Python 3.11.7).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9202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2468880"/>
                <a:gridCol w="246888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Sequential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Concurrent (sem=5)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5 questions, live APIs, wall-clock (s)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s]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s]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1.0x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x]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1 question, 3 fetches x 0.2 s each (offline unit benchmark)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0.60 (sum)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&lt; 0.40 (measured)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1 question, one source stalls 5 s, timeout 0.2 s (offline)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5.05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&lt; 1.00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Provider 429s observed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251960"/>
            <a:ext cx="11274552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Bottleneck named: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per question, t_wiki + t_arxiv + t_web + t_llm becomes max(t_wiki, t_arxiv, t_web) + t_llm; the LLM call is now the dominant term.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What doesn't reach N x: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synthesis is uncached and serialises on the provider's rate limit;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Semaphore(5)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admits fewer than two questions' fetches at once (chosen for arXiv's ~1 req/s politeness and Tavily's 1000/month tier).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06440"/>
            <a:ext cx="11274552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Calibri"/>
              </a:rPr>
              <a:t>Live row pending: the report machine sat behind a TLS-intercepting proxy (CRYPT_E_NO_REVOCATION_CHECK on every host). Numbers reproduce from the README command on an unproxied machine.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Robustness: one concrete failure mode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6/11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11274552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Scenario: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all three sources fail at once -- first for real (a corporate proxy broke TLS to every host), then reproduced deterministically with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PER_SOURCE_TIMEOUT_SECONDS=0.3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11274552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Calibri"/>
              </a:rPr>
              <a:t>What the system does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Retry: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tenacity, 3 attempts,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wait_exponential(0.5 s -&gt; 8 s)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, only on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ProviderError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/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httpx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errors -- never on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ValueError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Bound: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asyncio.timeout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per source covers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all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retries;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gather(return_exceptions=True)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turns each failure into a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SourceOutcome.error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3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Degrade: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one or two failures -&gt; answer from the rest +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Note: arxiv unavailable (...)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, exit 0.  All three -&gt;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NoSourcesAvailableError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before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any LLM spend, exit 1.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11880"/>
            <a:ext cx="11274552" cy="1097280"/>
          </a:xfrm>
          <a:prstGeom prst="rect">
            <a:avLst/>
          </a:prstGeom>
          <a:solidFill>
            <a:srgbClr val="F2F4F8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11111"/>
                </a:solidFill>
                <a:latin typeface="Consolas"/>
              </a:rPr>
              <a:t>13:47:34,003 WARNING researcher.concurrency.orchestrator: timeout origin=wikipedia after=0.3s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11111"/>
                </a:solidFill>
                <a:latin typeface="Consolas"/>
              </a:rPr>
              <a:t>13:47:34,035 WARNING researcher.concurrency.orchestrator: timeout origin=web after=0.3s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11111"/>
                </a:solidFill>
                <a:latin typeface="Consolas"/>
              </a:rPr>
              <a:t>13:47:34,036 WARNING researcher.concurrency.orchestrator: timeout origin=arxiv after=0.3s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11111"/>
                </a:solidFill>
                <a:latin typeface="Consolas"/>
              </a:rPr>
              <a:t>Error: No sources available for 'What is the current state of fusion energy research?': ['wikipedia', 'arxiv', 'web']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89204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surprised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76088"/>
            <a:ext cx="11274552" cy="89611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111111"/>
                </a:solidFill>
                <a:latin typeface="Calibri"/>
              </a:rPr>
              <a:t>In the real TLS incident the log was </a:t>
            </a:r>
            <a:r>
              <a:rPr sz="1300" b="1" i="0">
                <a:solidFill>
                  <a:srgbClr val="111111"/>
                </a:solidFill>
                <a:latin typeface="Calibri"/>
              </a:rPr>
              <a:t>empty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: the wrapper logs only successes, and the gather stores the error text without logging it. A diagnosability gap, found by running, not by a test. Fix queued: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WARNING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on each degraded source + tenacity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before_sleep_log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Live demo (or scripted demo)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7/11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What we will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72768"/>
            <a:ext cx="11274552" cy="6217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One hard sample question, cold then warm, inside the Docker image: the second run answers from cache for all three sources and the timing line shows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4552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Calibri"/>
              </a:rPr>
              <a:t>Demo command (works inside Docker):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11274552" cy="1234440"/>
          </a:xfrm>
          <a:prstGeom prst="rect">
            <a:avLst/>
          </a:prstGeom>
          <a:solidFill>
            <a:srgbClr val="F2F4F8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$ docker build -t research-assistant .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$ docker run --env-file .env research-assistant \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    python -m researcher ask "How does CRISPR-Cas9 gene editing work at a molecular level?"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$ docker run --env-file .env research-assistant \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    python -m researcher ask "how does crispr-cas9 gene editing work at a molecular level?" --sources wiki,arxiv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80"/>
            <a:ext cx="11274552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The answer carries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[N]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markers and a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References: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block with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(origin) title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and URL; hallucinated indices are dropped upstream.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The timing line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(timing: wikipedia=0.42s, arxiv=0.61s*, web=0.38s; * = cache hit)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shows max-not-sum latency and, on the second run, the case-insensitive cache key hitting for every 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52160"/>
            <a:ext cx="11274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555555"/>
                </a:solidFill>
                <a:latin typeface="Calibri"/>
              </a:rPr>
              <a:t>Backup: </a:t>
            </a:r>
            <a:r>
              <a:rPr sz="1100" b="0" i="0">
                <a:solidFill>
                  <a:srgbClr val="555555"/>
                </a:solidFill>
                <a:latin typeface="Consolas"/>
              </a:rPr>
              <a:t>python demo_ai.py --offline</a:t>
            </a:r>
            <a:r>
              <a:rPr sz="1200" b="0" i="1">
                <a:solidFill>
                  <a:srgbClr val="555555"/>
                </a:solidFill>
                <a:latin typeface="Calibri"/>
              </a:rPr>
              <a:t> needs no keys or network and exercises the provided module end to 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Testing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8/11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630936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Coverage &amp; shape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Total coverage on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researcher/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: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95 %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(402 stmts, 22 missed)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Provided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ai/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smoke tests: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passing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, 16/16 unmodified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Test count: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50 own + 16 smoke = 66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, 1.9 s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All tests offline;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ai.*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mocked at our own seam (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FakeAIService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,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monkeypatch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) plus the provided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FakeLLM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mypy researcher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: 0 errors in our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188720"/>
            <a:ext cx="484632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Three tests worth calling out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Happy path: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CLI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ask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-&gt; exit 0, answer + references rendered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Concurrency: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one source raises, gather degrades; 5 s stall under 0.2 s timeout finishes &lt; 1 s; semaphore=1 windows never overlap</a:t>
            </a:r>
          </a:p>
          <a:p>
            <a:pPr>
              <a:spcAft>
                <a:spcPts val="5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Error path: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the all-sources-fail and partial-failure tests caught the leaked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AsyncClient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after the shared-client refactor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4340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Tooling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27448"/>
            <a:ext cx="11274552" cy="8503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</a:rPr>
              <a:t>pytest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+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pytest-asyncio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(strict) +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pytest-cov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+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unittest.mock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/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monkeypatch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;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respx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installed but unused so far.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111111"/>
                </a:solidFill>
                <a:latin typeface="Consolas"/>
              </a:rPr>
              <a:t>mypy researcher --ignore-missing-imports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: 0 errors in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researcher/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(27 pre-existing in the provided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ai/providers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, untouched).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Limitations &amp; what we'd do next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9/11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74552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Where the system is brittle today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Silent degradation: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a failed source's error is stored, not logged; retries are invisible. Worst decision we made.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No 429-aware budget: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the semaphore is per process and backoff ignores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Retry-After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; two containers can burn one Tavily key.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Cache is single-writer,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lazily expired, never swept; a schema-drifted entry raises and is reported "unavailable" until TTL.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• </a:t>
            </a:r>
            <a:r>
              <a:rPr sz="1400" b="1" i="0">
                <a:solidFill>
                  <a:srgbClr val="111111"/>
                </a:solidFill>
                <a:latin typeface="Calibri"/>
              </a:rPr>
              <a:t>Answers are not cached,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so repeated questions always pay the LLM call -- the reason 5x is out of reach.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11274552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11111"/>
                </a:solidFill>
                <a:latin typeface="Calibri"/>
              </a:rPr>
              <a:t>Given another week we would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1.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Log every retry and degraded source at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WARNING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; add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respx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tests for the real fetch path (429, 301, 403).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2.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Cache answers keyed by (question, source URLs, model id); atomic write-then-rename plus a sweeper for the file cache.</a:t>
            </a:r>
          </a:p>
          <a:p>
            <a:pPr>
              <a:spcAft>
                <a:spcPts val="400"/>
              </a:spcAft>
            </a:pPr>
            <a:r>
              <a:rPr sz="1400" b="1" i="0">
                <a:solidFill>
                  <a:srgbClr val="0B3D91"/>
                </a:solidFill>
                <a:latin typeface="Calibri"/>
              </a:rPr>
              <a:t>3. 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Run the live benchmark on an unproxied machine and a 20-question load test; add a </a:t>
            </a:r>
            <a:r>
              <a:rPr sz="1300" b="0" i="0">
                <a:solidFill>
                  <a:srgbClr val="111111"/>
                </a:solidFill>
                <a:latin typeface="Consolas"/>
              </a:rPr>
              <a:t>--json</a:t>
            </a:r>
            <a:r>
              <a:rPr sz="1400" b="0" i="0">
                <a:solidFill>
                  <a:srgbClr val="111111"/>
                </a:solidFill>
                <a:latin typeface="Calibri"/>
              </a:rPr>
              <a:t> CLI mode and OpenTelemetry spans.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B3D91"/>
                </a:solidFill>
                <a:latin typeface="Calibri"/>
              </a:rPr>
              <a:t>Team contributions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24128"/>
            <a:ext cx="11274552" cy="0"/>
          </a:xfrm>
          <a:prstGeom prst="line">
            <a:avLst/>
          </a:prstGeom>
          <a:ln w="15240">
            <a:solidFill>
              <a:srgbClr val="0B3D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8B0000"/>
                </a:solidFill>
                <a:latin typeface="Calibri"/>
              </a:rPr>
              <a:t>[TODO: Team Name]</a:t>
            </a:r>
            <a:r>
              <a:rPr sz="900" b="0" i="1">
                <a:solidFill>
                  <a:srgbClr val="555555"/>
                </a:solidFill>
                <a:latin typeface="Calibri"/>
              </a:rPr>
              <a:t> -- Topic 4 -- Async Research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644652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1">
                <a:solidFill>
                  <a:srgbClr val="555555"/>
                </a:solidFill>
                <a:latin typeface="Calibri"/>
              </a:rPr>
              <a:t>AI-ENG-110 --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555555"/>
                </a:solidFill>
                <a:latin typeface="Calibri"/>
              </a:rPr>
              <a:t>10/11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74552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949440"/>
                <a:gridCol w="194767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Primary ownership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Commits</a:t>
                      </a:r>
                    </a:p>
                  </a:txBody>
                  <a:tcPr marL="73152" marR="73152" marT="27432" marB="27432" anchor="ctr">
                    <a:solidFill>
                      <a:srgbClr val="0B3D9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Sanan Garibli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11111"/>
                          </a:solidFill>
                          <a:latin typeface="Consolas"/>
                        </a:rPr>
                        <a:t>researcher/</a:t>
                      </a:r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 SE layer (config, models, services, core, concurrency, storage, CLI), test suite, Dockerfile, benchmark, README, shared-client PR #1, report &amp; slides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111111"/>
                          </a:solidFill>
                          <a:latin typeface="Calibri"/>
                        </a:rPr>
                        <a:t>100% (6 of 6 to date)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Member B]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ownership area]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%]</a:t>
                      </a:r>
                    </a:p>
                  </a:txBody>
                  <a:tcPr marL="73152" marR="73152" marT="27432" marB="27432" anchor="ctr">
                    <a:solidFill>
                      <a:srgbClr val="F2F4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Member C]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ownership area]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8B0000"/>
                          </a:solidFill>
                          <a:latin typeface="Calibri"/>
                        </a:rPr>
                        <a:t>[TODO: %]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840480"/>
            <a:ext cx="11274552" cy="38404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We can all answer: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224528"/>
            <a:ext cx="11274552" cy="53035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3152"/>
          <a:lstStyle/>
          <a:p>
            <a:pPr algn="l">
              <a:spcAft>
                <a:spcPts val="300"/>
              </a:spcAft>
            </a:pPr>
            <a:r>
              <a:rPr sz="1400" b="0" i="0">
                <a:solidFill>
                  <a:srgbClr val="111111"/>
                </a:solidFill>
                <a:latin typeface="Calibri"/>
              </a:rPr>
              <a:t>Any of us can walk through any module on demand. Pick a file -- we'll defend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37760"/>
            <a:ext cx="11274552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Calibri"/>
              </a:rPr>
              <a:t>AI tool use: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Claude Code (Anthropic) drafted the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researcher/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layer, tests, Dockerfile, README, this report and deck from the topic spec; every file was reviewed by the author, and the User-Agent, redirect and client-lifecycle fixes were made by hand after live failures. The </a:t>
            </a:r>
            <a:r>
              <a:rPr sz="1200" b="0" i="0">
                <a:solidFill>
                  <a:srgbClr val="111111"/>
                </a:solidFill>
                <a:latin typeface="Consolas"/>
              </a:rPr>
              <a:t>ai/</a:t>
            </a:r>
            <a:r>
              <a:rPr sz="1300" b="0" i="0">
                <a:solidFill>
                  <a:srgbClr val="111111"/>
                </a:solidFill>
                <a:latin typeface="Calibri"/>
              </a:rPr>
              <a:t> package, sample data and smoke tests are the course's, unmodified.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1800"/>
              </a:spcAft>
            </a:pPr>
            <a:r>
              <a:rPr sz="4800" b="1" i="0">
                <a:solidFill>
                  <a:srgbClr val="0B3D91"/>
                </a:solidFill>
                <a:latin typeface="Calibri"/>
              </a:rPr>
              <a:t>Questions?</a:t>
            </a:r>
          </a:p>
          <a:p>
            <a:pPr algn="ctr">
              <a:spcAft>
                <a:spcPts val="1800"/>
              </a:spcAft>
            </a:pPr>
            <a:r>
              <a:rPr sz="1000" b="0" i="0">
                <a:solidFill>
                  <a:srgbClr val="0B3D91"/>
                </a:solidFill>
                <a:latin typeface="Calibri"/>
              </a:rPr>
              <a:t>────────────────────────────────────────</a:t>
            </a:r>
          </a:p>
          <a:p>
            <a:pPr algn="ctr">
              <a:spcAft>
                <a:spcPts val="800"/>
              </a:spcAft>
            </a:pPr>
            <a:r>
              <a:rPr sz="2000" b="1" i="0">
                <a:solidFill>
                  <a:srgbClr val="8B0000"/>
                </a:solidFill>
                <a:latin typeface="Calibri"/>
              </a:rPr>
              <a:t>[TODO: Team Name]</a:t>
            </a:r>
          </a:p>
          <a:p>
            <a:pPr algn="ctr">
              <a:spcAft>
                <a:spcPts val="300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</a:rPr>
              <a:t>github.com/sanan-garibli/research-assistant</a:t>
            </a:r>
          </a:p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555555"/>
                </a:solidFill>
                <a:latin typeface="Calibri"/>
              </a:rPr>
              <a:t>“We can walk through any file in the repo.”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